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file:///Users/mslokom/Documents/research_directions/data-synthesis-sprite/PSD2026/results/human/streamlit-human_labeling_app-2026-05-31-01-57-42.webm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SlokomManel/LLM-as-a-Discriminator" TargetMode="External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E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02919" y="1433309"/>
            <a:ext cx="8138162" cy="79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5400">
                <a:solidFill>
                  <a:srgbClr val="FFFFFF"/>
                </a:solidFill>
              </a:defRPr>
            </a:lvl1pPr>
          </a:lstStyle>
          <a:p>
            <a:pPr/>
            <a:r>
              <a:t>LLM-as-a-Discriminator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502919" y="2403236"/>
            <a:ext cx="813816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8F9FA"/>
                </a:solidFill>
              </a:defRPr>
            </a:lvl1pPr>
          </a:lstStyle>
          <a:p>
            <a:pPr/>
            <a:r>
              <a:t>Can LLM Detect Synthetic Data?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02919" y="414738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b="1"/>
              <a:t>Manel Slokom</a:t>
            </a:r>
            <a:r>
              <a:t>, Malek Slokom, Thierno Kante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 txBox="1"/>
          <p:nvPr/>
        </p:nvSpPr>
        <p:spPr>
          <a:xfrm>
            <a:off x="502919" y="414461"/>
            <a:ext cx="8138162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Privacy vs. Data Utility</a:t>
            </a:r>
          </a:p>
        </p:txBody>
      </p:sp>
      <p:sp>
        <p:nvSpPr>
          <p:cNvPr id="26" name="Shape 1"/>
          <p:cNvSpPr/>
          <p:nvPr/>
        </p:nvSpPr>
        <p:spPr>
          <a:xfrm>
            <a:off x="457199" y="1188719"/>
            <a:ext cx="3931922" cy="2926082"/>
          </a:xfrm>
          <a:prstGeom prst="rect">
            <a:avLst/>
          </a:prstGeom>
          <a:solidFill>
            <a:srgbClr val="F8F9FA"/>
          </a:solidFill>
          <a:ln w="25400">
            <a:solidFill>
              <a:srgbClr val="2E5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2"/>
          <p:cNvSpPr txBox="1"/>
          <p:nvPr/>
        </p:nvSpPr>
        <p:spPr>
          <a:xfrm>
            <a:off x="685799" y="1358463"/>
            <a:ext cx="34747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E5090"/>
                </a:solidFill>
              </a:defRPr>
            </a:lvl1pPr>
          </a:lstStyle>
          <a:p>
            <a:pPr/>
            <a:r>
              <a:t>The Tension</a:t>
            </a:r>
          </a:p>
        </p:txBody>
      </p:sp>
      <p:sp>
        <p:nvSpPr>
          <p:cNvPr id="28" name="Text 3"/>
          <p:cNvSpPr txBox="1"/>
          <p:nvPr/>
        </p:nvSpPr>
        <p:spPr>
          <a:xfrm>
            <a:off x="685799" y="2020674"/>
            <a:ext cx="3474721" cy="1719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Organizations want to: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Protect personal data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Share useful insights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1A1A1A"/>
                </a:solidFill>
              </a:defRPr>
            </a:pPr>
            <a:r>
              <a:t>These goals often conflict</a:t>
            </a:r>
          </a:p>
        </p:txBody>
      </p:sp>
      <p:sp>
        <p:nvSpPr>
          <p:cNvPr id="29" name="Shape 4"/>
          <p:cNvSpPr/>
          <p:nvPr/>
        </p:nvSpPr>
        <p:spPr>
          <a:xfrm>
            <a:off x="4754879" y="1188719"/>
            <a:ext cx="3931921" cy="2926082"/>
          </a:xfrm>
          <a:prstGeom prst="rect">
            <a:avLst/>
          </a:prstGeom>
          <a:solidFill>
            <a:srgbClr val="F8F9FA"/>
          </a:solidFill>
          <a:ln w="254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5"/>
          <p:cNvSpPr txBox="1"/>
          <p:nvPr/>
        </p:nvSpPr>
        <p:spPr>
          <a:xfrm>
            <a:off x="4983479" y="1358463"/>
            <a:ext cx="347472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6B6B"/>
                </a:solidFill>
              </a:defRPr>
            </a:lvl1pPr>
          </a:lstStyle>
          <a:p>
            <a:pPr/>
            <a:r>
              <a:t>The Solution: Synthetic data</a:t>
            </a:r>
          </a:p>
        </p:txBody>
      </p:sp>
      <p:sp>
        <p:nvSpPr>
          <p:cNvPr id="31" name="Text 6"/>
          <p:cNvSpPr txBox="1"/>
          <p:nvPr/>
        </p:nvSpPr>
        <p:spPr>
          <a:xfrm>
            <a:off x="4983479" y="2003930"/>
            <a:ext cx="3474720" cy="1752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Generate artificial records that: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Mimic real data patterns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Protect individual privacy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Enable data sharing</a:t>
            </a:r>
          </a:p>
        </p:txBody>
      </p:sp>
      <p:sp>
        <p:nvSpPr>
          <p:cNvPr id="32" name="Shape 7"/>
          <p:cNvSpPr/>
          <p:nvPr/>
        </p:nvSpPr>
        <p:spPr>
          <a:xfrm>
            <a:off x="457200" y="4297679"/>
            <a:ext cx="8229600" cy="640081"/>
          </a:xfrm>
          <a:prstGeom prst="rect">
            <a:avLst/>
          </a:prstGeom>
          <a:solidFill>
            <a:srgbClr val="FF6B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8"/>
          <p:cNvSpPr txBox="1"/>
          <p:nvPr/>
        </p:nvSpPr>
        <p:spPr>
          <a:xfrm>
            <a:off x="685799" y="4513143"/>
            <a:ext cx="777240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But: If someone can tell the data is synthetic, they can break privacy. Can they?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xfrm>
            <a:off x="6818955" y="4844826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457200" y="1097279"/>
            <a:ext cx="8229600" cy="3508912"/>
          </a:xfrm>
          <a:prstGeom prst="rect">
            <a:avLst/>
          </a:prstGeom>
          <a:solidFill>
            <a:srgbClr val="FFFFFF"/>
          </a:solidFill>
          <a:ln w="38100">
            <a:solidFill>
              <a:srgbClr val="2E5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"/>
          <p:cNvSpPr txBox="1"/>
          <p:nvPr/>
        </p:nvSpPr>
        <p:spPr>
          <a:xfrm>
            <a:off x="685799" y="1250776"/>
            <a:ext cx="777240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2E5090"/>
                </a:solidFill>
              </a:defRPr>
            </a:lvl1pPr>
          </a:lstStyle>
          <a:p>
            <a:pPr/>
            <a:r>
              <a:t>The question</a:t>
            </a:r>
          </a:p>
        </p:txBody>
      </p:sp>
      <p:sp>
        <p:nvSpPr>
          <p:cNvPr id="38" name="Text 2"/>
          <p:cNvSpPr txBox="1"/>
          <p:nvPr/>
        </p:nvSpPr>
        <p:spPr>
          <a:xfrm>
            <a:off x="685799" y="1926986"/>
            <a:ext cx="7772402" cy="99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1A1A1A"/>
                </a:solidFill>
              </a:defRPr>
            </a:lvl1pPr>
          </a:lstStyle>
          <a:p>
            <a:pPr/>
            <a:r>
              <a:t>Can a Large Language Model detect if the data is real or synthetic?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685799" y="3288600"/>
            <a:ext cx="777240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2E5090"/>
                </a:solidFill>
              </a:defRPr>
            </a:lvl1pPr>
          </a:lstStyle>
          <a:p>
            <a:pPr/>
            <a:r>
              <a:t>Why ask an LLM?</a:t>
            </a:r>
          </a:p>
        </p:txBody>
      </p:sp>
      <p:sp>
        <p:nvSpPr>
          <p:cNvPr id="40" name="Text 4"/>
          <p:cNvSpPr txBox="1"/>
          <p:nvPr/>
        </p:nvSpPr>
        <p:spPr>
          <a:xfrm>
            <a:off x="685799" y="3540185"/>
            <a:ext cx="7772402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120315" indent="-120315"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No model access needed (black-box audit)  </a:t>
            </a:r>
          </a:p>
          <a:p>
            <a:pPr marL="120315" indent="-120315"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Interpretable reasoning  </a:t>
            </a:r>
          </a:p>
          <a:p>
            <a:pPr marL="120315" indent="-120315">
              <a:buSzPct val="100000"/>
              <a:buChar char="•"/>
              <a:defRPr sz="1200">
                <a:solidFill>
                  <a:srgbClr val="1A1A1A"/>
                </a:solidFill>
              </a:defRPr>
            </a:pPr>
            <a:r>
              <a:t>Scales easily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xfrm>
            <a:off x="6847294" y="4790343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 txBox="1"/>
          <p:nvPr/>
        </p:nvSpPr>
        <p:spPr>
          <a:xfrm>
            <a:off x="227937" y="77321"/>
            <a:ext cx="8354475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How we test: LLM vs Human Judges</a:t>
            </a:r>
          </a:p>
        </p:txBody>
      </p:sp>
      <p:sp>
        <p:nvSpPr>
          <p:cNvPr id="44" name="Shape 1"/>
          <p:cNvSpPr/>
          <p:nvPr/>
        </p:nvSpPr>
        <p:spPr>
          <a:xfrm>
            <a:off x="3245757" y="917478"/>
            <a:ext cx="2926081" cy="426106"/>
          </a:xfrm>
          <a:prstGeom prst="roundRect">
            <a:avLst>
              <a:gd name="adj" fmla="val 25037"/>
            </a:avLst>
          </a:prstGeom>
          <a:solidFill>
            <a:srgbClr val="378ADD"/>
          </a:solidFill>
          <a:ln w="12700">
            <a:solidFill>
              <a:srgbClr val="185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2"/>
          <p:cNvSpPr txBox="1"/>
          <p:nvPr/>
        </p:nvSpPr>
        <p:spPr>
          <a:xfrm>
            <a:off x="3291477" y="903588"/>
            <a:ext cx="2834641" cy="375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t>Input Data</a:t>
            </a:r>
          </a:p>
        </p:txBody>
      </p:sp>
      <p:sp>
        <p:nvSpPr>
          <p:cNvPr id="46" name="Shape 3"/>
          <p:cNvSpPr/>
          <p:nvPr/>
        </p:nvSpPr>
        <p:spPr>
          <a:xfrm>
            <a:off x="3779747" y="1386400"/>
            <a:ext cx="1" cy="548642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4"/>
          <p:cNvSpPr/>
          <p:nvPr/>
        </p:nvSpPr>
        <p:spPr>
          <a:xfrm>
            <a:off x="2347278" y="1929872"/>
            <a:ext cx="1756453" cy="466812"/>
          </a:xfrm>
          <a:prstGeom prst="roundRect">
            <a:avLst>
              <a:gd name="adj" fmla="val 23144"/>
            </a:avLst>
          </a:prstGeom>
          <a:solidFill>
            <a:srgbClr val="51CF66"/>
          </a:solidFill>
          <a:ln w="12700">
            <a:solidFill>
              <a:srgbClr val="2B8A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5"/>
          <p:cNvSpPr txBox="1"/>
          <p:nvPr/>
        </p:nvSpPr>
        <p:spPr>
          <a:xfrm>
            <a:off x="1571217" y="1952458"/>
            <a:ext cx="301752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 </a:t>
            </a:r>
            <a:r>
              <a:t>LLM Judge</a:t>
            </a:r>
          </a:p>
        </p:txBody>
      </p:sp>
      <p:sp>
        <p:nvSpPr>
          <p:cNvPr id="49" name="Text 6"/>
          <p:cNvSpPr txBox="1"/>
          <p:nvPr/>
        </p:nvSpPr>
        <p:spPr>
          <a:xfrm>
            <a:off x="126048" y="1991507"/>
            <a:ext cx="30175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/>
            </a:lvl1pPr>
          </a:lstStyle>
          <a:p>
            <a:pPr/>
            <a:r>
              <a:t>Gemini 2.5 / LLaMA 3.1</a:t>
            </a:r>
          </a:p>
        </p:txBody>
      </p:sp>
      <p:sp>
        <p:nvSpPr>
          <p:cNvPr id="50" name="Text 7"/>
          <p:cNvSpPr txBox="1"/>
          <p:nvPr/>
        </p:nvSpPr>
        <p:spPr>
          <a:xfrm>
            <a:off x="126048" y="2174386"/>
            <a:ext cx="30175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/>
            </a:lvl1pPr>
          </a:lstStyle>
          <a:p>
            <a:pPr/>
            <a:r>
              <a:t>Structural violations</a:t>
            </a:r>
          </a:p>
        </p:txBody>
      </p:sp>
      <p:sp>
        <p:nvSpPr>
          <p:cNvPr id="51" name="Shape 8"/>
          <p:cNvSpPr/>
          <p:nvPr/>
        </p:nvSpPr>
        <p:spPr>
          <a:xfrm>
            <a:off x="3127928" y="2388394"/>
            <a:ext cx="1" cy="338385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9"/>
          <p:cNvSpPr/>
          <p:nvPr/>
        </p:nvSpPr>
        <p:spPr>
          <a:xfrm>
            <a:off x="1887283" y="2799283"/>
            <a:ext cx="978627" cy="506324"/>
          </a:xfrm>
          <a:prstGeom prst="rect">
            <a:avLst/>
          </a:prstGeom>
          <a:solidFill>
            <a:srgbClr val="FFB347"/>
          </a:solidFill>
          <a:ln w="12700">
            <a:solidFill>
              <a:srgbClr val="BA75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0"/>
          <p:cNvSpPr txBox="1"/>
          <p:nvPr/>
        </p:nvSpPr>
        <p:spPr>
          <a:xfrm>
            <a:off x="1709374" y="2877879"/>
            <a:ext cx="128016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C1</a:t>
            </a:r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Table Only</a:t>
            </a:r>
          </a:p>
        </p:txBody>
      </p:sp>
      <p:sp>
        <p:nvSpPr>
          <p:cNvPr id="54" name="Shape 12"/>
          <p:cNvSpPr/>
          <p:nvPr/>
        </p:nvSpPr>
        <p:spPr>
          <a:xfrm>
            <a:off x="3190376" y="2781698"/>
            <a:ext cx="978627" cy="514767"/>
          </a:xfrm>
          <a:prstGeom prst="rect">
            <a:avLst/>
          </a:prstGeom>
          <a:solidFill>
            <a:srgbClr val="FFB347"/>
          </a:solidFill>
          <a:ln w="12700">
            <a:solidFill>
              <a:srgbClr val="BA75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13"/>
          <p:cNvSpPr txBox="1"/>
          <p:nvPr/>
        </p:nvSpPr>
        <p:spPr>
          <a:xfrm>
            <a:off x="3010671" y="2865706"/>
            <a:ext cx="128016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C2</a:t>
            </a:r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Table + Stats</a:t>
            </a:r>
          </a:p>
        </p:txBody>
      </p:sp>
      <p:sp>
        <p:nvSpPr>
          <p:cNvPr id="56" name="Shape 15"/>
          <p:cNvSpPr/>
          <p:nvPr/>
        </p:nvSpPr>
        <p:spPr>
          <a:xfrm>
            <a:off x="2367217" y="3636016"/>
            <a:ext cx="1554481" cy="408941"/>
          </a:xfrm>
          <a:prstGeom prst="roundRect">
            <a:avLst>
              <a:gd name="adj" fmla="val 19377"/>
            </a:avLst>
          </a:prstGeom>
          <a:solidFill>
            <a:srgbClr val="FF6B6B"/>
          </a:solidFill>
          <a:ln w="12700">
            <a:solidFill>
              <a:srgbClr val="A3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6"/>
          <p:cNvSpPr txBox="1"/>
          <p:nvPr/>
        </p:nvSpPr>
        <p:spPr>
          <a:xfrm>
            <a:off x="1635697" y="3665064"/>
            <a:ext cx="3017521" cy="327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SYNTHETIC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</p:txBody>
      </p:sp>
      <p:sp>
        <p:nvSpPr>
          <p:cNvPr id="58" name="Shape 19"/>
          <p:cNvSpPr/>
          <p:nvPr/>
        </p:nvSpPr>
        <p:spPr>
          <a:xfrm>
            <a:off x="5477384" y="1381232"/>
            <a:ext cx="1" cy="548641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20"/>
          <p:cNvSpPr/>
          <p:nvPr/>
        </p:nvSpPr>
        <p:spPr>
          <a:xfrm>
            <a:off x="4966947" y="1929872"/>
            <a:ext cx="1935275" cy="466812"/>
          </a:xfrm>
          <a:prstGeom prst="roundRect">
            <a:avLst>
              <a:gd name="adj" fmla="val 30339"/>
            </a:avLst>
          </a:prstGeom>
          <a:solidFill>
            <a:srgbClr val="D4537E"/>
          </a:solidFill>
          <a:ln w="12700">
            <a:solidFill>
              <a:srgbClr val="99355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21"/>
          <p:cNvSpPr txBox="1"/>
          <p:nvPr/>
        </p:nvSpPr>
        <p:spPr>
          <a:xfrm>
            <a:off x="4389538" y="1897203"/>
            <a:ext cx="301752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👤 </a:t>
            </a:r>
            <a:r>
              <a:t>Human Judges</a:t>
            </a:r>
          </a:p>
        </p:txBody>
      </p:sp>
      <p:sp>
        <p:nvSpPr>
          <p:cNvPr id="61" name="Text 22"/>
          <p:cNvSpPr txBox="1"/>
          <p:nvPr/>
        </p:nvSpPr>
        <p:spPr>
          <a:xfrm>
            <a:off x="6210527" y="1994635"/>
            <a:ext cx="30175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/>
            </a:lvl1pPr>
          </a:lstStyle>
          <a:p>
            <a:pPr/>
            <a:r>
              <a:t>2 annotators (HA1, HA2)</a:t>
            </a:r>
          </a:p>
        </p:txBody>
      </p:sp>
      <p:sp>
        <p:nvSpPr>
          <p:cNvPr id="62" name="Text 23"/>
          <p:cNvSpPr txBox="1"/>
          <p:nvPr/>
        </p:nvSpPr>
        <p:spPr>
          <a:xfrm>
            <a:off x="6210527" y="2177515"/>
            <a:ext cx="30175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/>
            </a:lvl1pPr>
          </a:lstStyle>
          <a:p>
            <a:pPr/>
            <a:r>
              <a:t>Expert visual inspection</a:t>
            </a:r>
          </a:p>
        </p:txBody>
      </p:sp>
      <p:sp>
        <p:nvSpPr>
          <p:cNvPr id="63" name="Shape 24"/>
          <p:cNvSpPr/>
          <p:nvPr/>
        </p:nvSpPr>
        <p:spPr>
          <a:xfrm>
            <a:off x="6157305" y="2403534"/>
            <a:ext cx="1" cy="308105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25"/>
          <p:cNvSpPr/>
          <p:nvPr/>
        </p:nvSpPr>
        <p:spPr>
          <a:xfrm>
            <a:off x="5080418" y="2802679"/>
            <a:ext cx="793933" cy="528532"/>
          </a:xfrm>
          <a:prstGeom prst="rect">
            <a:avLst/>
          </a:prstGeom>
          <a:solidFill>
            <a:srgbClr val="FFB347"/>
          </a:solidFill>
          <a:ln w="12700">
            <a:solidFill>
              <a:srgbClr val="BA75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6"/>
          <p:cNvSpPr txBox="1"/>
          <p:nvPr/>
        </p:nvSpPr>
        <p:spPr>
          <a:xfrm>
            <a:off x="4837304" y="2898755"/>
            <a:ext cx="128016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C1</a:t>
            </a:r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Table Only</a:t>
            </a:r>
          </a:p>
        </p:txBody>
      </p:sp>
      <p:sp>
        <p:nvSpPr>
          <p:cNvPr id="66" name="Shape 28"/>
          <p:cNvSpPr/>
          <p:nvPr/>
        </p:nvSpPr>
        <p:spPr>
          <a:xfrm>
            <a:off x="6246087" y="2811686"/>
            <a:ext cx="1031462" cy="487943"/>
          </a:xfrm>
          <a:prstGeom prst="rect">
            <a:avLst/>
          </a:prstGeom>
          <a:solidFill>
            <a:srgbClr val="FFB347"/>
          </a:solidFill>
          <a:ln w="12700">
            <a:solidFill>
              <a:srgbClr val="BA751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29"/>
          <p:cNvSpPr txBox="1"/>
          <p:nvPr/>
        </p:nvSpPr>
        <p:spPr>
          <a:xfrm>
            <a:off x="6187667" y="2836255"/>
            <a:ext cx="12801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C2</a:t>
            </a:r>
          </a:p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Table + Stats</a:t>
            </a:r>
          </a:p>
        </p:txBody>
      </p:sp>
      <p:sp>
        <p:nvSpPr>
          <p:cNvPr id="68" name="Shape 31"/>
          <p:cNvSpPr/>
          <p:nvPr/>
        </p:nvSpPr>
        <p:spPr>
          <a:xfrm>
            <a:off x="5333602" y="3611811"/>
            <a:ext cx="1879073" cy="426105"/>
          </a:xfrm>
          <a:prstGeom prst="roundRect">
            <a:avLst>
              <a:gd name="adj" fmla="val 20167"/>
            </a:avLst>
          </a:prstGeom>
          <a:solidFill>
            <a:srgbClr val="1D9E75"/>
          </a:solidFill>
          <a:ln w="12700">
            <a:solidFill>
              <a:srgbClr val="0F6E5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32"/>
          <p:cNvSpPr txBox="1"/>
          <p:nvPr/>
        </p:nvSpPr>
        <p:spPr>
          <a:xfrm>
            <a:off x="4764378" y="3660874"/>
            <a:ext cx="3017521" cy="327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SYNTHETIC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</p:txBody>
      </p:sp>
      <p:sp>
        <p:nvSpPr>
          <p:cNvPr id="70" name="Shape 35"/>
          <p:cNvSpPr/>
          <p:nvPr/>
        </p:nvSpPr>
        <p:spPr>
          <a:xfrm>
            <a:off x="928914" y="4281639"/>
            <a:ext cx="7559768" cy="5943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solidFill>
              <a:srgbClr val="000000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36"/>
          <p:cNvSpPr txBox="1"/>
          <p:nvPr/>
        </p:nvSpPr>
        <p:spPr>
          <a:xfrm>
            <a:off x="967014" y="4417584"/>
            <a:ext cx="7772401" cy="31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Ideally: </a:t>
            </a:r>
            <a:r>
              <a:t>Both LLMs and Humans identify the same structural violations as the key discriminator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6652487" y="4825934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 txBox="1"/>
          <p:nvPr/>
        </p:nvSpPr>
        <p:spPr>
          <a:xfrm>
            <a:off x="502919" y="414461"/>
            <a:ext cx="8138162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Experimental Design</a:t>
            </a:r>
          </a:p>
        </p:txBody>
      </p:sp>
      <p:sp>
        <p:nvSpPr>
          <p:cNvPr id="75" name="Text 1"/>
          <p:cNvSpPr txBox="1"/>
          <p:nvPr/>
        </p:nvSpPr>
        <p:spPr>
          <a:xfrm>
            <a:off x="502919" y="117558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A1A1A"/>
                </a:solidFill>
              </a:defRPr>
            </a:lvl1pPr>
          </a:lstStyle>
          <a:p>
            <a:pPr/>
            <a:r>
              <a:t>451 valid experiments across:</a:t>
            </a:r>
          </a:p>
        </p:txBody>
      </p:sp>
      <p:sp>
        <p:nvSpPr>
          <p:cNvPr id="76" name="Text 2"/>
          <p:cNvSpPr txBox="1"/>
          <p:nvPr/>
        </p:nvSpPr>
        <p:spPr>
          <a:xfrm>
            <a:off x="777239" y="1711260"/>
            <a:ext cx="15544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2E5090"/>
                </a:solidFill>
              </a:defRPr>
            </a:lvl1pPr>
          </a:lstStyle>
          <a:p>
            <a:pPr/>
            <a:r>
              <a:t>Datasets:</a:t>
            </a:r>
          </a:p>
        </p:txBody>
      </p:sp>
      <p:sp>
        <p:nvSpPr>
          <p:cNvPr id="77" name="Text 3"/>
          <p:cNvSpPr txBox="1"/>
          <p:nvPr/>
        </p:nvSpPr>
        <p:spPr>
          <a:xfrm>
            <a:off x="2606040" y="1722559"/>
            <a:ext cx="6035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2 census datasets: UCI Adult &amp; ACS Census Income</a:t>
            </a:r>
          </a:p>
        </p:txBody>
      </p:sp>
      <p:sp>
        <p:nvSpPr>
          <p:cNvPr id="78" name="Text 4"/>
          <p:cNvSpPr txBox="1"/>
          <p:nvPr/>
        </p:nvSpPr>
        <p:spPr>
          <a:xfrm>
            <a:off x="777239" y="2214180"/>
            <a:ext cx="15544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2E5090"/>
                </a:solidFill>
              </a:defRPr>
            </a:lvl1pPr>
          </a:lstStyle>
          <a:p>
            <a:pPr/>
            <a:r>
              <a:t>Synthesis methods:</a:t>
            </a:r>
          </a:p>
        </p:txBody>
      </p:sp>
      <p:sp>
        <p:nvSpPr>
          <p:cNvPr id="79" name="Text 5"/>
          <p:cNvSpPr txBox="1"/>
          <p:nvPr/>
        </p:nvSpPr>
        <p:spPr>
          <a:xfrm>
            <a:off x="2606040" y="2225479"/>
            <a:ext cx="6035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3 generators: CTGAN, TVAE, Gaussian Copula</a:t>
            </a:r>
          </a:p>
        </p:txBody>
      </p:sp>
      <p:sp>
        <p:nvSpPr>
          <p:cNvPr id="80" name="Text 6"/>
          <p:cNvSpPr txBox="1"/>
          <p:nvPr/>
        </p:nvSpPr>
        <p:spPr>
          <a:xfrm>
            <a:off x="777239" y="2717100"/>
            <a:ext cx="15544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2E5090"/>
                </a:solidFill>
              </a:defRPr>
            </a:lvl1pPr>
          </a:lstStyle>
          <a:p>
            <a:pPr/>
            <a:r>
              <a:t>LLM models:</a:t>
            </a:r>
          </a:p>
        </p:txBody>
      </p:sp>
      <p:sp>
        <p:nvSpPr>
          <p:cNvPr id="81" name="Text 7"/>
          <p:cNvSpPr txBox="1"/>
          <p:nvPr/>
        </p:nvSpPr>
        <p:spPr>
          <a:xfrm>
            <a:off x="2606040" y="2728398"/>
            <a:ext cx="60350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Gemini 2.5-Flash vs. LLaMA 3.1-8B</a:t>
            </a:r>
          </a:p>
        </p:txBody>
      </p:sp>
      <p:sp>
        <p:nvSpPr>
          <p:cNvPr id="82" name="Text 8"/>
          <p:cNvSpPr txBox="1"/>
          <p:nvPr/>
        </p:nvSpPr>
        <p:spPr>
          <a:xfrm>
            <a:off x="748901" y="3223381"/>
            <a:ext cx="1554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2E5090"/>
                </a:solidFill>
              </a:defRPr>
            </a:lvl1pPr>
          </a:lstStyle>
          <a:p>
            <a:pPr/>
            <a:r>
              <a:t>Threat conditions:</a:t>
            </a:r>
          </a:p>
        </p:txBody>
      </p:sp>
      <p:sp>
        <p:nvSpPr>
          <p:cNvPr id="83" name="Text 9"/>
          <p:cNvSpPr txBox="1"/>
          <p:nvPr/>
        </p:nvSpPr>
        <p:spPr>
          <a:xfrm>
            <a:off x="2606040" y="3231319"/>
            <a:ext cx="6035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C1 (table only) &amp; C2 (table + metadata)</a:t>
            </a:r>
          </a:p>
        </p:txBody>
      </p:sp>
      <p:sp>
        <p:nvSpPr>
          <p:cNvPr id="84" name="Text 10"/>
          <p:cNvSpPr txBox="1"/>
          <p:nvPr/>
        </p:nvSpPr>
        <p:spPr>
          <a:xfrm>
            <a:off x="748901" y="3666682"/>
            <a:ext cx="1554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2E5090"/>
                </a:solidFill>
              </a:defRPr>
            </a:lvl1pPr>
          </a:lstStyle>
          <a:p>
            <a:pPr/>
            <a:r>
              <a:t>Baselines:</a:t>
            </a:r>
          </a:p>
        </p:txBody>
      </p:sp>
      <p:sp>
        <p:nvSpPr>
          <p:cNvPr id="85" name="Text 11"/>
          <p:cNvSpPr txBox="1"/>
          <p:nvPr/>
        </p:nvSpPr>
        <p:spPr>
          <a:xfrm>
            <a:off x="2577701" y="3677980"/>
            <a:ext cx="60350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Human annotators (2 people, 240 trials) + Logistic regression Classifier 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xfrm>
            <a:off x="6743385" y="4730444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7" name="* Temperature is equal to 0 for reproducibility.  Code : https://github.com/SlokomManel/LLM-as-a-Discriminator"/>
          <p:cNvSpPr txBox="1"/>
          <p:nvPr/>
        </p:nvSpPr>
        <p:spPr>
          <a:xfrm>
            <a:off x="301414" y="4767188"/>
            <a:ext cx="313164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900"/>
            </a:pPr>
            <a:r>
              <a:t>* Temperature is equal to 0 for reproducibility. </a:t>
            </a:r>
            <a:br/>
            <a:r>
              <a:t>Code 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https://github.com/SlokomManel/LLM-as-a-Discriminator</a:t>
            </a:r>
            <a:r>
              <a:t> </a:t>
            </a:r>
          </a:p>
        </p:txBody>
      </p:sp>
      <p:pic>
        <p:nvPicPr>
          <p:cNvPr id="88" name="Screenshot 2026-09-18 at 10.16.54.png" descr="Screenshot 2026-09-18 at 10.16.5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42604" y="2202055"/>
            <a:ext cx="3452450" cy="118205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ext 10"/>
          <p:cNvSpPr txBox="1"/>
          <p:nvPr/>
        </p:nvSpPr>
        <p:spPr>
          <a:xfrm>
            <a:off x="750640" y="4109982"/>
            <a:ext cx="1554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2E5090"/>
                </a:solidFill>
              </a:defRPr>
            </a:lvl1pPr>
          </a:lstStyle>
          <a:p>
            <a:pPr/>
            <a:r>
              <a:t>Trials and failures:</a:t>
            </a:r>
          </a:p>
        </p:txBody>
      </p:sp>
      <p:sp>
        <p:nvSpPr>
          <p:cNvPr id="90" name="Text 11"/>
          <p:cNvSpPr txBox="1"/>
          <p:nvPr/>
        </p:nvSpPr>
        <p:spPr>
          <a:xfrm>
            <a:off x="2579440" y="4019681"/>
            <a:ext cx="603504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3600 trials in total (3 synthesisers x 2 conditions x 200 trials per cell) : 90.6% failed (quota errors)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 txBox="1"/>
          <p:nvPr/>
        </p:nvSpPr>
        <p:spPr>
          <a:xfrm>
            <a:off x="502919" y="404564"/>
            <a:ext cx="81381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400">
                <a:solidFill>
                  <a:srgbClr val="2E5090"/>
                </a:solidFill>
              </a:defRPr>
            </a:lvl1pPr>
          </a:lstStyle>
          <a:p>
            <a:pPr/>
            <a:r>
              <a:t>Two threat scenarios</a:t>
            </a:r>
          </a:p>
        </p:txBody>
      </p:sp>
      <p:sp>
        <p:nvSpPr>
          <p:cNvPr id="93" name="Shape 1"/>
          <p:cNvSpPr/>
          <p:nvPr/>
        </p:nvSpPr>
        <p:spPr>
          <a:xfrm>
            <a:off x="1330156" y="2017587"/>
            <a:ext cx="2992511" cy="2560321"/>
          </a:xfrm>
          <a:prstGeom prst="rect">
            <a:avLst/>
          </a:prstGeom>
          <a:solidFill>
            <a:srgbClr val="F8F9FA"/>
          </a:solidFill>
          <a:ln w="25400">
            <a:solidFill>
              <a:srgbClr val="2E5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2"/>
          <p:cNvSpPr txBox="1"/>
          <p:nvPr/>
        </p:nvSpPr>
        <p:spPr>
          <a:xfrm>
            <a:off x="1558756" y="2187331"/>
            <a:ext cx="3566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E5090"/>
                </a:solidFill>
              </a:defRPr>
            </a:lvl1pPr>
          </a:lstStyle>
          <a:p>
            <a:pPr/>
            <a:r>
              <a:t>Condition 1 (C1)</a:t>
            </a:r>
          </a:p>
        </p:txBody>
      </p:sp>
      <p:sp>
        <p:nvSpPr>
          <p:cNvPr id="95" name="Text 3"/>
          <p:cNvSpPr txBox="1"/>
          <p:nvPr/>
        </p:nvSpPr>
        <p:spPr>
          <a:xfrm>
            <a:off x="1558756" y="2517268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Table Only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1558756" y="2934966"/>
            <a:ext cx="3566161" cy="1274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1A1A1A"/>
                </a:solidFill>
              </a:defRPr>
            </a:pPr>
            <a:r>
              <a:t>LLM sees: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20 rows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Column names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Dataset shape</a:t>
            </a:r>
          </a:p>
          <a:p>
            <a:pPr>
              <a:defRPr sz="1300"/>
            </a:pP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Adversary with data release only</a:t>
            </a:r>
          </a:p>
        </p:txBody>
      </p:sp>
      <p:sp>
        <p:nvSpPr>
          <p:cNvPr id="97" name="Shape 5"/>
          <p:cNvSpPr/>
          <p:nvPr/>
        </p:nvSpPr>
        <p:spPr>
          <a:xfrm>
            <a:off x="4698711" y="2017587"/>
            <a:ext cx="3104420" cy="2560321"/>
          </a:xfrm>
          <a:prstGeom prst="rect">
            <a:avLst/>
          </a:prstGeom>
          <a:solidFill>
            <a:srgbClr val="F8F9FA"/>
          </a:solidFill>
          <a:ln w="254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6"/>
          <p:cNvSpPr txBox="1"/>
          <p:nvPr/>
        </p:nvSpPr>
        <p:spPr>
          <a:xfrm>
            <a:off x="4927311" y="2187331"/>
            <a:ext cx="35661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6B6B"/>
                </a:solidFill>
              </a:defRPr>
            </a:lvl1pPr>
          </a:lstStyle>
          <a:p>
            <a:pPr/>
            <a:r>
              <a:t>Condition 2 (C2)</a:t>
            </a:r>
          </a:p>
        </p:txBody>
      </p:sp>
      <p:sp>
        <p:nvSpPr>
          <p:cNvPr id="99" name="Text 7"/>
          <p:cNvSpPr txBox="1"/>
          <p:nvPr/>
        </p:nvSpPr>
        <p:spPr>
          <a:xfrm>
            <a:off x="4927311" y="2517268"/>
            <a:ext cx="35661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Table + Metadata</a:t>
            </a:r>
          </a:p>
        </p:txBody>
      </p:sp>
      <p:sp>
        <p:nvSpPr>
          <p:cNvPr id="100" name="Text 8"/>
          <p:cNvSpPr txBox="1"/>
          <p:nvPr/>
        </p:nvSpPr>
        <p:spPr>
          <a:xfrm>
            <a:off x="4927311" y="2833366"/>
            <a:ext cx="3566160" cy="1477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1A1A1A"/>
                </a:solidFill>
              </a:defRPr>
            </a:pPr>
            <a:r>
              <a:t>Same as C1 plus: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Mean, std deviation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Quartiles, skewness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Category frequencies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Correlations</a:t>
            </a:r>
          </a:p>
          <a:p>
            <a:pPr>
              <a:defRPr sz="1300"/>
            </a:pP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Adversary with published stats</a:t>
            </a:r>
          </a:p>
        </p:txBody>
      </p:sp>
      <p:pic>
        <p:nvPicPr>
          <p:cNvPr id="101" name="Screenshot 2026-09-18 at 10.10.12.png" descr="Screenshot 2026-09-18 at 10.10.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99260" y="483330"/>
            <a:ext cx="3557007" cy="147740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Slide Number"/>
          <p:cNvSpPr txBox="1"/>
          <p:nvPr>
            <p:ph type="sldNum" sz="quarter" idx="2"/>
          </p:nvPr>
        </p:nvSpPr>
        <p:spPr>
          <a:xfrm>
            <a:off x="6652487" y="4825934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502919" y="414461"/>
            <a:ext cx="8138162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Human annotation study</a:t>
            </a:r>
          </a:p>
        </p:txBody>
      </p:sp>
      <p:pic>
        <p:nvPicPr>
          <p:cNvPr id="10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0" y="1188719"/>
            <a:ext cx="5486400" cy="3474722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2"/>
          <p:cNvSpPr txBox="1"/>
          <p:nvPr/>
        </p:nvSpPr>
        <p:spPr>
          <a:xfrm>
            <a:off x="502919" y="1570553"/>
            <a:ext cx="246888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2 human annotators</a:t>
            </a:r>
          </a:p>
        </p:txBody>
      </p:sp>
      <p:sp>
        <p:nvSpPr>
          <p:cNvPr id="107" name="Text 3"/>
          <p:cNvSpPr txBox="1"/>
          <p:nvPr/>
        </p:nvSpPr>
        <p:spPr>
          <a:xfrm>
            <a:off x="502919" y="1936313"/>
            <a:ext cx="246888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240 total trials (120 each)</a:t>
            </a:r>
          </a:p>
        </p:txBody>
      </p:sp>
      <p:sp>
        <p:nvSpPr>
          <p:cNvPr id="108" name="Text 4"/>
          <p:cNvSpPr txBox="1"/>
          <p:nvPr/>
        </p:nvSpPr>
        <p:spPr>
          <a:xfrm>
            <a:off x="502919" y="2302073"/>
            <a:ext cx="246888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Same protocol as LLMs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502919" y="2667833"/>
            <a:ext cx="246888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C1 then C2 per sample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502919" y="3033593"/>
            <a:ext cx="246888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Real-time decision making</a:t>
            </a:r>
          </a:p>
        </p:txBody>
      </p:sp>
      <p:sp>
        <p:nvSpPr>
          <p:cNvPr id="111" name="Text 7"/>
          <p:cNvSpPr txBox="1"/>
          <p:nvPr/>
        </p:nvSpPr>
        <p:spPr>
          <a:xfrm>
            <a:off x="502919" y="3399353"/>
            <a:ext cx="246888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Confidence scoring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xfrm>
            <a:off x="6800390" y="4803581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914400" y="731520"/>
            <a:ext cx="7315200" cy="3840480"/>
          </a:xfrm>
          <a:prstGeom prst="rect">
            <a:avLst/>
          </a:prstGeom>
          <a:solidFill>
            <a:srgbClr val="2E5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"/>
          <p:cNvSpPr txBox="1"/>
          <p:nvPr/>
        </p:nvSpPr>
        <p:spPr>
          <a:xfrm>
            <a:off x="1417319" y="2011332"/>
            <a:ext cx="630936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Human annotator in action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502919" y="61664"/>
            <a:ext cx="8138161" cy="1339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400">
                <a:solidFill>
                  <a:srgbClr val="2E5090"/>
                </a:solidFill>
              </a:defRPr>
            </a:lvl1pPr>
          </a:lstStyle>
          <a:p>
            <a:pPr/>
            <a:r>
              <a:t>Key Finding: Model matters more than method</a:t>
            </a:r>
          </a:p>
        </p:txBody>
      </p:sp>
      <p:sp>
        <p:nvSpPr>
          <p:cNvPr id="121" name="Shape 1"/>
          <p:cNvSpPr/>
          <p:nvPr/>
        </p:nvSpPr>
        <p:spPr>
          <a:xfrm>
            <a:off x="448382" y="4422665"/>
            <a:ext cx="8112761" cy="618709"/>
          </a:xfrm>
          <a:prstGeom prst="rect">
            <a:avLst/>
          </a:prstGeom>
          <a:ln w="25400">
            <a:solidFill>
              <a:srgbClr val="0F6E56"/>
            </a:solidFill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2"/>
          <p:cNvSpPr txBox="1"/>
          <p:nvPr/>
        </p:nvSpPr>
        <p:spPr>
          <a:xfrm>
            <a:off x="676982" y="4576774"/>
            <a:ext cx="7772401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/>
            </a:lvl1pPr>
          </a:lstStyle>
          <a:p>
            <a:pPr/>
            <a:r>
              <a:t>The discriminator model makes as much difference as the synthesis method itself!</a:t>
            </a:r>
          </a:p>
        </p:txBody>
      </p:sp>
      <p:sp>
        <p:nvSpPr>
          <p:cNvPr id="123" name="Text 3"/>
          <p:cNvSpPr txBox="1"/>
          <p:nvPr/>
        </p:nvSpPr>
        <p:spPr>
          <a:xfrm>
            <a:off x="502920" y="1641038"/>
            <a:ext cx="813816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2E5090"/>
                </a:solidFill>
              </a:defRPr>
            </a:lvl1pPr>
          </a:lstStyle>
          <a:p>
            <a:pPr/>
            <a:r>
              <a:t>UCI Adult results</a:t>
            </a:r>
          </a:p>
        </p:txBody>
      </p:sp>
      <p:sp>
        <p:nvSpPr>
          <p:cNvPr id="124" name="Text 4"/>
          <p:cNvSpPr txBox="1"/>
          <p:nvPr/>
        </p:nvSpPr>
        <p:spPr>
          <a:xfrm>
            <a:off x="960120" y="2032942"/>
            <a:ext cx="76809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1A1A"/>
                </a:solidFill>
              </a:defRPr>
            </a:lvl1pPr>
          </a:lstStyle>
          <a:p>
            <a:pPr/>
            <a:r>
              <a:t>LLaMA: DRS = 0% (labels everything as REAL)</a:t>
            </a:r>
          </a:p>
        </p:txBody>
      </p:sp>
      <p:sp>
        <p:nvSpPr>
          <p:cNvPr id="125" name="Text 5"/>
          <p:cNvSpPr txBox="1"/>
          <p:nvPr/>
        </p:nvSpPr>
        <p:spPr>
          <a:xfrm>
            <a:off x="960120" y="2398702"/>
            <a:ext cx="76809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/>
            </a:lvl1pPr>
          </a:lstStyle>
          <a:p>
            <a:pPr/>
            <a:r>
              <a:t>Gemini: DRS = 100% for CTGAN &amp; TVAE (perfect detection)</a:t>
            </a:r>
          </a:p>
        </p:txBody>
      </p:sp>
      <p:sp>
        <p:nvSpPr>
          <p:cNvPr id="126" name="Text 6"/>
          <p:cNvSpPr txBox="1"/>
          <p:nvPr/>
        </p:nvSpPr>
        <p:spPr>
          <a:xfrm>
            <a:off x="502920" y="2829758"/>
            <a:ext cx="813816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2E5090"/>
                </a:solidFill>
              </a:defRPr>
            </a:lvl1pPr>
          </a:lstStyle>
          <a:p>
            <a:pPr/>
            <a:r>
              <a:t>ACS Census results</a:t>
            </a:r>
          </a:p>
        </p:txBody>
      </p:sp>
      <p:sp>
        <p:nvSpPr>
          <p:cNvPr id="127" name="Text 7"/>
          <p:cNvSpPr txBox="1"/>
          <p:nvPr/>
        </p:nvSpPr>
        <p:spPr>
          <a:xfrm>
            <a:off x="960120" y="3221662"/>
            <a:ext cx="76809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1A1A"/>
                </a:solidFill>
              </a:defRPr>
            </a:lvl1pPr>
          </a:lstStyle>
          <a:p>
            <a:pPr/>
            <a:r>
              <a:t>LLaMA: DRS = 0% (labels everything as SYNTHETIC - opposite bias!)</a:t>
            </a:r>
          </a:p>
        </p:txBody>
      </p:sp>
      <p:sp>
        <p:nvSpPr>
          <p:cNvPr id="128" name="Text 8"/>
          <p:cNvSpPr txBox="1"/>
          <p:nvPr/>
        </p:nvSpPr>
        <p:spPr>
          <a:xfrm>
            <a:off x="960120" y="3561278"/>
            <a:ext cx="76809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/>
            </a:lvl1pPr>
          </a:lstStyle>
          <a:p>
            <a:pPr/>
            <a:r>
              <a:t>Gemini: DRS = 100% under C1, varies under C2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 txBox="1"/>
          <p:nvPr/>
        </p:nvSpPr>
        <p:spPr>
          <a:xfrm>
            <a:off x="502919" y="414461"/>
            <a:ext cx="8138162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Metadata's surprising effect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502919" y="1186881"/>
            <a:ext cx="813816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F6B6B"/>
                </a:solidFill>
              </a:defRPr>
            </a:lvl1pPr>
          </a:lstStyle>
          <a:p>
            <a:pPr/>
            <a:r>
              <a:t>Adding distributional metadata doesn't always help...</a:t>
            </a:r>
          </a:p>
        </p:txBody>
      </p:sp>
      <p:sp>
        <p:nvSpPr>
          <p:cNvPr id="132" name="Text 21"/>
          <p:cNvSpPr txBox="1"/>
          <p:nvPr/>
        </p:nvSpPr>
        <p:spPr>
          <a:xfrm>
            <a:off x="502919" y="4225860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1400"/>
            </a:lvl1pPr>
          </a:lstStyle>
          <a:p>
            <a:pPr/>
            <a:r>
              <a:t>When synthetic marginals align with real data, metadata can confuse the detector!</a:t>
            </a:r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xfrm>
            <a:off x="6809208" y="4742610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4" name="Text 3"/>
          <p:cNvSpPr txBox="1"/>
          <p:nvPr/>
        </p:nvSpPr>
        <p:spPr>
          <a:xfrm>
            <a:off x="502919" y="199854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E5090"/>
                </a:solidFill>
              </a:defRPr>
            </a:lvl1pPr>
          </a:lstStyle>
          <a:p>
            <a:pPr/>
            <a:r>
              <a:t>ACS Census with Gemini:</a:t>
            </a:r>
          </a:p>
        </p:txBody>
      </p:sp>
      <p:sp>
        <p:nvSpPr>
          <p:cNvPr id="135" name="Text 4"/>
          <p:cNvSpPr txBox="1"/>
          <p:nvPr/>
        </p:nvSpPr>
        <p:spPr>
          <a:xfrm>
            <a:off x="960119" y="2465640"/>
            <a:ext cx="21945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CTGAN:</a:t>
            </a:r>
          </a:p>
        </p:txBody>
      </p:sp>
      <p:sp>
        <p:nvSpPr>
          <p:cNvPr id="136" name="Text 5"/>
          <p:cNvSpPr txBox="1"/>
          <p:nvPr/>
        </p:nvSpPr>
        <p:spPr>
          <a:xfrm>
            <a:off x="3429000" y="246564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1CF66"/>
                </a:solidFill>
              </a:defRPr>
            </a:lvl1pPr>
          </a:lstStyle>
          <a:p>
            <a:pPr/>
            <a:r>
              <a:t>C1: 100%</a:t>
            </a:r>
          </a:p>
        </p:txBody>
      </p:sp>
      <p:sp>
        <p:nvSpPr>
          <p:cNvPr id="137" name="Text 6"/>
          <p:cNvSpPr txBox="1"/>
          <p:nvPr/>
        </p:nvSpPr>
        <p:spPr>
          <a:xfrm>
            <a:off x="4983479" y="246564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6B6B"/>
                </a:solidFill>
              </a:defRPr>
            </a:lvl1pPr>
          </a:lstStyle>
          <a:p>
            <a:pPr/>
            <a:r>
              <a:t>C2: 0%</a:t>
            </a:r>
          </a:p>
        </p:txBody>
      </p:sp>
      <p:sp>
        <p:nvSpPr>
          <p:cNvPr id="138" name="Text 7"/>
          <p:cNvSpPr txBox="1"/>
          <p:nvPr/>
        </p:nvSpPr>
        <p:spPr>
          <a:xfrm>
            <a:off x="6537959" y="2450590"/>
            <a:ext cx="2103121" cy="31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⬇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️ </a:t>
            </a:r>
            <a:r>
              <a:t>-100%</a:t>
            </a:r>
          </a:p>
        </p:txBody>
      </p:sp>
      <p:sp>
        <p:nvSpPr>
          <p:cNvPr id="139" name="Text 8"/>
          <p:cNvSpPr txBox="1"/>
          <p:nvPr/>
        </p:nvSpPr>
        <p:spPr>
          <a:xfrm>
            <a:off x="960119" y="2922840"/>
            <a:ext cx="21945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TVAE:</a:t>
            </a:r>
          </a:p>
        </p:txBody>
      </p:sp>
      <p:sp>
        <p:nvSpPr>
          <p:cNvPr id="140" name="Text 9"/>
          <p:cNvSpPr txBox="1"/>
          <p:nvPr/>
        </p:nvSpPr>
        <p:spPr>
          <a:xfrm>
            <a:off x="3429000" y="292284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1CF66"/>
                </a:solidFill>
              </a:defRPr>
            </a:lvl1pPr>
          </a:lstStyle>
          <a:p>
            <a:pPr/>
            <a:r>
              <a:t>C1: 100%</a:t>
            </a:r>
          </a:p>
        </p:txBody>
      </p:sp>
      <p:sp>
        <p:nvSpPr>
          <p:cNvPr id="141" name="Text 10"/>
          <p:cNvSpPr txBox="1"/>
          <p:nvPr/>
        </p:nvSpPr>
        <p:spPr>
          <a:xfrm>
            <a:off x="4983479" y="292284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6B6B"/>
                </a:solidFill>
              </a:defRPr>
            </a:lvl1pPr>
          </a:lstStyle>
          <a:p>
            <a:pPr/>
            <a:r>
              <a:t>C2: 25%</a:t>
            </a:r>
          </a:p>
        </p:txBody>
      </p:sp>
      <p:sp>
        <p:nvSpPr>
          <p:cNvPr id="142" name="Text 11"/>
          <p:cNvSpPr txBox="1"/>
          <p:nvPr/>
        </p:nvSpPr>
        <p:spPr>
          <a:xfrm>
            <a:off x="6537959" y="2907790"/>
            <a:ext cx="2103121" cy="31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⬇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️ </a:t>
            </a:r>
            <a:r>
              <a:t>-75%</a:t>
            </a:r>
          </a:p>
        </p:txBody>
      </p:sp>
      <p:sp>
        <p:nvSpPr>
          <p:cNvPr id="143" name="Text 12"/>
          <p:cNvSpPr txBox="1"/>
          <p:nvPr/>
        </p:nvSpPr>
        <p:spPr>
          <a:xfrm>
            <a:off x="960119" y="3380040"/>
            <a:ext cx="21945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Gaussian Copula:</a:t>
            </a:r>
          </a:p>
        </p:txBody>
      </p:sp>
      <p:sp>
        <p:nvSpPr>
          <p:cNvPr id="144" name="Text 13"/>
          <p:cNvSpPr txBox="1"/>
          <p:nvPr/>
        </p:nvSpPr>
        <p:spPr>
          <a:xfrm>
            <a:off x="3429000" y="338004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1CF66"/>
                </a:solidFill>
              </a:defRPr>
            </a:lvl1pPr>
          </a:lstStyle>
          <a:p>
            <a:pPr/>
            <a:r>
              <a:t>C1: 100%</a:t>
            </a:r>
          </a:p>
        </p:txBody>
      </p:sp>
      <p:sp>
        <p:nvSpPr>
          <p:cNvPr id="145" name="Text 14"/>
          <p:cNvSpPr txBox="1"/>
          <p:nvPr/>
        </p:nvSpPr>
        <p:spPr>
          <a:xfrm>
            <a:off x="4983479" y="3380040"/>
            <a:ext cx="1280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51CF66"/>
                </a:solidFill>
              </a:defRPr>
            </a:lvl1pPr>
          </a:lstStyle>
          <a:p>
            <a:pPr/>
            <a:r>
              <a:t>C2: 100%</a:t>
            </a:r>
          </a:p>
        </p:txBody>
      </p:sp>
      <p:sp>
        <p:nvSpPr>
          <p:cNvPr id="146" name="Text 15"/>
          <p:cNvSpPr txBox="1"/>
          <p:nvPr/>
        </p:nvSpPr>
        <p:spPr>
          <a:xfrm>
            <a:off x="6537959" y="3380040"/>
            <a:ext cx="21031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1A1A"/>
                </a:solidFill>
              </a:defRPr>
            </a:lvl1pPr>
          </a:lstStyle>
          <a:p>
            <a:pPr/>
            <a:r>
              <a:t>→ stable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 txBox="1"/>
          <p:nvPr/>
        </p:nvSpPr>
        <p:spPr>
          <a:xfrm>
            <a:off x="502919" y="404564"/>
            <a:ext cx="81381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400">
                <a:solidFill>
                  <a:srgbClr val="2E5090"/>
                </a:solidFill>
              </a:defRPr>
            </a:lvl1pPr>
          </a:lstStyle>
          <a:p>
            <a:pPr/>
            <a:r>
              <a:t>What LLMs Actually Notice</a:t>
            </a:r>
          </a:p>
        </p:txBody>
      </p:sp>
      <p:sp>
        <p:nvSpPr>
          <p:cNvPr id="149" name="Text 1"/>
          <p:cNvSpPr txBox="1"/>
          <p:nvPr/>
        </p:nvSpPr>
        <p:spPr>
          <a:xfrm>
            <a:off x="502919" y="1175583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E5090"/>
                </a:solidFill>
              </a:defRPr>
            </a:lvl1pPr>
          </a:lstStyle>
          <a:p>
            <a:pPr/>
            <a:r>
              <a:t>Gemini identifies structural violations:</a:t>
            </a:r>
          </a:p>
        </p:txBody>
      </p:sp>
      <p:sp>
        <p:nvSpPr>
          <p:cNvPr id="150" name="Text 2"/>
          <p:cNvSpPr txBox="1"/>
          <p:nvPr/>
        </p:nvSpPr>
        <p:spPr>
          <a:xfrm>
            <a:off x="777240" y="1591310"/>
            <a:ext cx="192024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4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Education Mapping</a:t>
            </a:r>
          </a:p>
        </p:txBody>
      </p:sp>
      <p:sp>
        <p:nvSpPr>
          <p:cNvPr id="151" name="Text 3"/>
          <p:cNvSpPr txBox="1"/>
          <p:nvPr/>
        </p:nvSpPr>
        <p:spPr>
          <a:xfrm>
            <a:off x="2880359" y="1653979"/>
            <a:ext cx="57607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"Bachelors" → 13, "10th" → 6 (inconsistent)</a:t>
            </a:r>
          </a:p>
        </p:txBody>
      </p:sp>
      <p:sp>
        <p:nvSpPr>
          <p:cNvPr id="152" name="Text 4"/>
          <p:cNvSpPr txBox="1"/>
          <p:nvPr/>
        </p:nvSpPr>
        <p:spPr>
          <a:xfrm>
            <a:off x="777240" y="2139950"/>
            <a:ext cx="192024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4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Impossible Combos</a:t>
            </a:r>
          </a:p>
        </p:txBody>
      </p:sp>
      <p:sp>
        <p:nvSpPr>
          <p:cNvPr id="153" name="Text 5"/>
          <p:cNvSpPr txBox="1"/>
          <p:nvPr/>
        </p:nvSpPr>
        <p:spPr>
          <a:xfrm>
            <a:off x="2880359" y="2202619"/>
            <a:ext cx="57607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"Never-married" + "Husband" (4.5% of CTGAN samples)</a:t>
            </a:r>
          </a:p>
        </p:txBody>
      </p:sp>
      <p:sp>
        <p:nvSpPr>
          <p:cNvPr id="154" name="Text 6"/>
          <p:cNvSpPr txBox="1"/>
          <p:nvPr/>
        </p:nvSpPr>
        <p:spPr>
          <a:xfrm>
            <a:off x="777240" y="2574290"/>
            <a:ext cx="1920240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4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Age/Education Conflicts</a:t>
            </a:r>
          </a:p>
        </p:txBody>
      </p:sp>
      <p:sp>
        <p:nvSpPr>
          <p:cNvPr id="155" name="Text 7"/>
          <p:cNvSpPr txBox="1"/>
          <p:nvPr/>
        </p:nvSpPr>
        <p:spPr>
          <a:xfrm>
            <a:off x="2880359" y="2751259"/>
            <a:ext cx="57607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Age 18 with PhD (implausible)</a:t>
            </a:r>
          </a:p>
        </p:txBody>
      </p:sp>
      <p:sp>
        <p:nvSpPr>
          <p:cNvPr id="156" name="Text 8"/>
          <p:cNvSpPr txBox="1"/>
          <p:nvPr/>
        </p:nvSpPr>
        <p:spPr>
          <a:xfrm>
            <a:off x="777240" y="3122929"/>
            <a:ext cx="1920240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4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Sparse Distribution Anomalies</a:t>
            </a:r>
          </a:p>
        </p:txBody>
      </p:sp>
      <p:sp>
        <p:nvSpPr>
          <p:cNvPr id="157" name="Text 9"/>
          <p:cNvSpPr txBox="1"/>
          <p:nvPr/>
        </p:nvSpPr>
        <p:spPr>
          <a:xfrm>
            <a:off x="2880359" y="3299899"/>
            <a:ext cx="57607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Capital gains/losses filled in (90%+ zeros in real data)</a:t>
            </a:r>
          </a:p>
        </p:txBody>
      </p:sp>
      <p:sp>
        <p:nvSpPr>
          <p:cNvPr id="158" name="Shape 10"/>
          <p:cNvSpPr/>
          <p:nvPr/>
        </p:nvSpPr>
        <p:spPr>
          <a:xfrm>
            <a:off x="457200" y="4114800"/>
            <a:ext cx="8229600" cy="731521"/>
          </a:xfrm>
          <a:prstGeom prst="rect">
            <a:avLst/>
          </a:prstGeom>
          <a:solidFill>
            <a:srgbClr val="F8F9FA"/>
          </a:solidFill>
          <a:ln w="25400">
            <a:solidFill>
              <a:srgbClr val="51CF6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11"/>
          <p:cNvSpPr txBox="1"/>
          <p:nvPr/>
        </p:nvSpPr>
        <p:spPr>
          <a:xfrm>
            <a:off x="685799" y="4323417"/>
            <a:ext cx="7772401" cy="314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Both humans and frontier LLMs spot the same constraint violations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xfrm>
            <a:off x="6809208" y="4742610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 txBox="1"/>
          <p:nvPr/>
        </p:nvSpPr>
        <p:spPr>
          <a:xfrm>
            <a:off x="502919" y="435657"/>
            <a:ext cx="8138162" cy="591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900">
                <a:solidFill>
                  <a:srgbClr val="2E5090"/>
                </a:solidFill>
              </a:defRPr>
            </a:lvl1pPr>
          </a:lstStyle>
          <a:p>
            <a:pPr/>
            <a:r>
              <a:t>What Humans and LLMs actually say</a:t>
            </a:r>
          </a:p>
        </p:txBody>
      </p:sp>
      <p:sp>
        <p:nvSpPr>
          <p:cNvPr id="163" name="Text 1"/>
          <p:cNvSpPr txBox="1"/>
          <p:nvPr/>
        </p:nvSpPr>
        <p:spPr>
          <a:xfrm>
            <a:off x="502919" y="1186881"/>
            <a:ext cx="813816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2E5090"/>
                </a:solidFill>
              </a:defRPr>
            </a:lvl1pPr>
          </a:lstStyle>
          <a:p>
            <a:pPr/>
            <a:r>
              <a:t>Structural violations: The primary clue</a:t>
            </a:r>
          </a:p>
        </p:txBody>
      </p:sp>
      <p:sp>
        <p:nvSpPr>
          <p:cNvPr id="164" name="Shape 2"/>
          <p:cNvSpPr/>
          <p:nvPr/>
        </p:nvSpPr>
        <p:spPr>
          <a:xfrm>
            <a:off x="457200" y="1600199"/>
            <a:ext cx="8229600" cy="777242"/>
          </a:xfrm>
          <a:prstGeom prst="rect">
            <a:avLst/>
          </a:prstGeom>
          <a:solidFill>
            <a:srgbClr val="F8F9FA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3"/>
          <p:cNvSpPr txBox="1"/>
          <p:nvPr/>
        </p:nvSpPr>
        <p:spPr>
          <a:xfrm>
            <a:off x="685799" y="1633219"/>
            <a:ext cx="246888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Education mapping inconsistency</a:t>
            </a:r>
          </a:p>
        </p:txBody>
      </p:sp>
      <p:sp>
        <p:nvSpPr>
          <p:cNvPr id="166" name="Text 4"/>
          <p:cNvSpPr txBox="1"/>
          <p:nvPr/>
        </p:nvSpPr>
        <p:spPr>
          <a:xfrm>
            <a:off x="685800" y="1944546"/>
            <a:ext cx="10058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1A1A"/>
                </a:solidFill>
              </a:defRPr>
            </a:lvl1pPr>
          </a:lstStyle>
          <a:p>
            <a:pPr/>
            <a:r>
              <a:t>Gemini (LLM):</a:t>
            </a:r>
          </a:p>
        </p:txBody>
      </p:sp>
      <p:sp>
        <p:nvSpPr>
          <p:cNvPr id="167" name="Text 5"/>
          <p:cNvSpPr txBox="1"/>
          <p:nvPr/>
        </p:nvSpPr>
        <p:spPr>
          <a:xfrm>
            <a:off x="1874519" y="1943144"/>
            <a:ext cx="676656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1A1A1A"/>
                </a:solidFill>
              </a:defRPr>
            </a:lvl1pPr>
          </a:lstStyle>
          <a:p>
            <a:pPr/>
            <a:r>
              <a:t>"'education_num' does not maintain a 1-to-1 mapping with 'education'; e.g., '10th' grade is assigned 4, not 6."</a:t>
            </a:r>
          </a:p>
        </p:txBody>
      </p:sp>
      <p:sp>
        <p:nvSpPr>
          <p:cNvPr id="168" name="Shape 6"/>
          <p:cNvSpPr/>
          <p:nvPr/>
        </p:nvSpPr>
        <p:spPr>
          <a:xfrm>
            <a:off x="457200" y="2514599"/>
            <a:ext cx="8229600" cy="777242"/>
          </a:xfrm>
          <a:prstGeom prst="rect">
            <a:avLst/>
          </a:prstGeom>
          <a:solidFill>
            <a:srgbClr val="F8F9FA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7"/>
          <p:cNvSpPr txBox="1"/>
          <p:nvPr/>
        </p:nvSpPr>
        <p:spPr>
          <a:xfrm>
            <a:off x="685800" y="2547619"/>
            <a:ext cx="31089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Marital Status &amp; Relationship contradiction</a:t>
            </a:r>
          </a:p>
        </p:txBody>
      </p:sp>
      <p:sp>
        <p:nvSpPr>
          <p:cNvPr id="170" name="Text 8"/>
          <p:cNvSpPr txBox="1"/>
          <p:nvPr/>
        </p:nvSpPr>
        <p:spPr>
          <a:xfrm>
            <a:off x="685800" y="2858946"/>
            <a:ext cx="10058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1A1A"/>
                </a:solidFill>
              </a:defRPr>
            </a:lvl1pPr>
          </a:lstStyle>
          <a:p>
            <a:pPr/>
            <a:r>
              <a:t>Gemini (LLM):</a:t>
            </a:r>
          </a:p>
        </p:txBody>
      </p:sp>
      <p:sp>
        <p:nvSpPr>
          <p:cNvPr id="171" name="Text 9"/>
          <p:cNvSpPr txBox="1"/>
          <p:nvPr/>
        </p:nvSpPr>
        <p:spPr>
          <a:xfrm>
            <a:off x="1874519" y="2810747"/>
            <a:ext cx="67665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1A1A1A"/>
                </a:solidFill>
              </a:defRPr>
            </a:lvl1pPr>
          </a:lstStyle>
          <a:p>
            <a:pPr/>
            <a:r>
              <a:t>"Marital status 'Never-married' paired with relationship type 'Husband' is logically impossible" (4.5% of CTGAN samples)</a:t>
            </a:r>
          </a:p>
        </p:txBody>
      </p:sp>
      <p:sp>
        <p:nvSpPr>
          <p:cNvPr id="172" name="Text 10"/>
          <p:cNvSpPr txBox="1"/>
          <p:nvPr/>
        </p:nvSpPr>
        <p:spPr>
          <a:xfrm>
            <a:off x="606396" y="3084822"/>
            <a:ext cx="12801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1A1A1A"/>
                </a:solidFill>
              </a:defRPr>
            </a:lvl1pPr>
          </a:lstStyle>
          <a:p>
            <a:pPr/>
            <a:r>
              <a:t>Human Annotators:</a:t>
            </a:r>
          </a:p>
        </p:txBody>
      </p:sp>
      <p:sp>
        <p:nvSpPr>
          <p:cNvPr id="173" name="Text 11"/>
          <p:cNvSpPr txBox="1"/>
          <p:nvPr/>
        </p:nvSpPr>
        <p:spPr>
          <a:xfrm>
            <a:off x="1885894" y="3069055"/>
            <a:ext cx="52120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1A1A1A"/>
                </a:solidFill>
              </a:defRPr>
            </a:lvl1pPr>
          </a:lstStyle>
          <a:p>
            <a:pPr/>
            <a:r>
              <a:t>"Never-married but also says Husband? That makes no sense."</a:t>
            </a:r>
          </a:p>
        </p:txBody>
      </p:sp>
      <p:sp>
        <p:nvSpPr>
          <p:cNvPr id="174" name="Shape 12"/>
          <p:cNvSpPr/>
          <p:nvPr/>
        </p:nvSpPr>
        <p:spPr>
          <a:xfrm>
            <a:off x="457200" y="3428999"/>
            <a:ext cx="8229600" cy="777242"/>
          </a:xfrm>
          <a:prstGeom prst="rect">
            <a:avLst/>
          </a:prstGeom>
          <a:solidFill>
            <a:srgbClr val="F8F9FA"/>
          </a:solidFill>
          <a:ln w="127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3"/>
          <p:cNvSpPr txBox="1"/>
          <p:nvPr/>
        </p:nvSpPr>
        <p:spPr>
          <a:xfrm>
            <a:off x="685800" y="3462020"/>
            <a:ext cx="2194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❌ </a:t>
            </a:r>
            <a:r>
              <a:t>Capital Gains/Loss Anomaly</a:t>
            </a:r>
          </a:p>
        </p:txBody>
      </p:sp>
      <p:sp>
        <p:nvSpPr>
          <p:cNvPr id="176" name="Text 14"/>
          <p:cNvSpPr txBox="1"/>
          <p:nvPr/>
        </p:nvSpPr>
        <p:spPr>
          <a:xfrm>
            <a:off x="685800" y="3887645"/>
            <a:ext cx="6400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1A1A"/>
                </a:solidFill>
              </a:defRPr>
            </a:lvl1pPr>
          </a:lstStyle>
          <a:p>
            <a:pPr/>
            <a:r>
              <a:t>LLaMA:</a:t>
            </a:r>
          </a:p>
        </p:txBody>
      </p:sp>
      <p:sp>
        <p:nvSpPr>
          <p:cNvPr id="177" name="Text 15"/>
          <p:cNvSpPr txBox="1"/>
          <p:nvPr/>
        </p:nvSpPr>
        <p:spPr>
          <a:xfrm>
            <a:off x="1473489" y="3817619"/>
            <a:ext cx="71323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1A1A1A"/>
                </a:solidFill>
              </a:defRPr>
            </a:lvl1pPr>
          </a:lstStyle>
          <a:p>
            <a:pPr/>
            <a:r>
              <a:t>"High skewness in 'capital_gain' and 'capital_loss'; large number of zeros in capital_gain." (Real: 90%+ zeros. Synthetic: filled in.)</a:t>
            </a:r>
          </a:p>
        </p:txBody>
      </p:sp>
      <p:sp>
        <p:nvSpPr>
          <p:cNvPr id="178" name="Text 16"/>
          <p:cNvSpPr txBox="1"/>
          <p:nvPr/>
        </p:nvSpPr>
        <p:spPr>
          <a:xfrm>
            <a:off x="502919" y="4589956"/>
            <a:ext cx="8138162" cy="294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51CF66"/>
                </a:solidFill>
              </a:defRPr>
            </a:pP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sz="1400">
                <a:solidFill>
                  <a:srgbClr val="000000"/>
                </a:solidFill>
              </a:rPr>
              <a:t>Both humans and LLMs independently identified the same structural violations as the key discriminator</a:t>
            </a:r>
          </a:p>
        </p:txBody>
      </p:sp>
      <p:sp>
        <p:nvSpPr>
          <p:cNvPr id="179" name="Slide Number"/>
          <p:cNvSpPr txBox="1"/>
          <p:nvPr>
            <p:ph type="sldNum" sz="quarter" idx="2"/>
          </p:nvPr>
        </p:nvSpPr>
        <p:spPr>
          <a:xfrm>
            <a:off x="6773937" y="4779096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 txBox="1"/>
          <p:nvPr/>
        </p:nvSpPr>
        <p:spPr>
          <a:xfrm>
            <a:off x="502919" y="84261"/>
            <a:ext cx="8138162" cy="129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How Humans compare to frontier LLMs</a:t>
            </a:r>
          </a:p>
        </p:txBody>
      </p:sp>
      <p:sp>
        <p:nvSpPr>
          <p:cNvPr id="182" name="Shape 1"/>
          <p:cNvSpPr/>
          <p:nvPr/>
        </p:nvSpPr>
        <p:spPr>
          <a:xfrm>
            <a:off x="457199" y="1761873"/>
            <a:ext cx="4023361" cy="2651761"/>
          </a:xfrm>
          <a:prstGeom prst="rect">
            <a:avLst/>
          </a:prstGeom>
          <a:solidFill>
            <a:srgbClr val="F8F9FA"/>
          </a:solidFill>
          <a:ln w="25400">
            <a:solidFill>
              <a:srgbClr val="2E5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2"/>
          <p:cNvSpPr txBox="1"/>
          <p:nvPr/>
        </p:nvSpPr>
        <p:spPr>
          <a:xfrm>
            <a:off x="685800" y="1931616"/>
            <a:ext cx="3566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E5090"/>
                </a:solidFill>
              </a:defRPr>
            </a:lvl1pPr>
          </a:lstStyle>
          <a:p>
            <a:pPr/>
            <a:r>
              <a:t>Human Annotators</a:t>
            </a:r>
          </a:p>
        </p:txBody>
      </p:sp>
      <p:sp>
        <p:nvSpPr>
          <p:cNvPr id="184" name="Text 3"/>
          <p:cNvSpPr txBox="1"/>
          <p:nvPr/>
        </p:nvSpPr>
        <p:spPr>
          <a:xfrm>
            <a:off x="685800" y="2261553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Moderate Agreement</a:t>
            </a:r>
          </a:p>
        </p:txBody>
      </p:sp>
      <p:sp>
        <p:nvSpPr>
          <p:cNvPr id="185" name="Text 4"/>
          <p:cNvSpPr txBox="1"/>
          <p:nvPr/>
        </p:nvSpPr>
        <p:spPr>
          <a:xfrm>
            <a:off x="685800" y="2996751"/>
            <a:ext cx="3566161" cy="867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1A1A1A"/>
                </a:solidFill>
              </a:defRPr>
            </a:pPr>
            <a:r>
              <a:t>• Annotator 1: 66.4%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• Annotator 2: 77.9%</a:t>
            </a:r>
          </a:p>
          <a:p>
            <a:pPr>
              <a:defRPr sz="1300"/>
            </a:pPr>
          </a:p>
          <a:p>
            <a:pPr>
              <a:defRPr sz="1300">
                <a:solidFill>
                  <a:srgbClr val="1A1A1A"/>
                </a:solidFill>
              </a:defRPr>
            </a:pPr>
            <a:r>
              <a:t>Reason: Spot structural violations independently</a:t>
            </a:r>
          </a:p>
        </p:txBody>
      </p:sp>
      <p:sp>
        <p:nvSpPr>
          <p:cNvPr id="186" name="Shape 5"/>
          <p:cNvSpPr/>
          <p:nvPr/>
        </p:nvSpPr>
        <p:spPr>
          <a:xfrm>
            <a:off x="4663440" y="1761873"/>
            <a:ext cx="4023360" cy="2651761"/>
          </a:xfrm>
          <a:prstGeom prst="rect">
            <a:avLst/>
          </a:prstGeom>
          <a:solidFill>
            <a:srgbClr val="535353"/>
          </a:solidFill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6"/>
          <p:cNvSpPr txBox="1"/>
          <p:nvPr/>
        </p:nvSpPr>
        <p:spPr>
          <a:xfrm>
            <a:off x="4892040" y="1931616"/>
            <a:ext cx="3566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Frontier LLM (Gemini)</a:t>
            </a:r>
          </a:p>
        </p:txBody>
      </p:sp>
      <p:sp>
        <p:nvSpPr>
          <p:cNvPr id="188" name="Text 7"/>
          <p:cNvSpPr txBox="1"/>
          <p:nvPr/>
        </p:nvSpPr>
        <p:spPr>
          <a:xfrm>
            <a:off x="4892040" y="2261553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Matches or exceeds humans</a:t>
            </a:r>
          </a:p>
        </p:txBody>
      </p:sp>
      <p:sp>
        <p:nvSpPr>
          <p:cNvPr id="189" name="Text 8"/>
          <p:cNvSpPr txBox="1"/>
          <p:nvPr/>
        </p:nvSpPr>
        <p:spPr>
          <a:xfrm>
            <a:off x="4892040" y="2895151"/>
            <a:ext cx="3566161" cy="1071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UCI Adult: DRS=100%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ACS Census C1: DRS=100%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Identifies same patterns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Provides explicit reasoning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Consistent across conditions</a:t>
            </a:r>
          </a:p>
        </p:txBody>
      </p:sp>
      <p:sp>
        <p:nvSpPr>
          <p:cNvPr id="190" name="Slide Number"/>
          <p:cNvSpPr txBox="1"/>
          <p:nvPr>
            <p:ph type="sldNum" sz="quarter" idx="2"/>
          </p:nvPr>
        </p:nvSpPr>
        <p:spPr>
          <a:xfrm>
            <a:off x="6862114" y="4796728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 txBox="1"/>
          <p:nvPr/>
        </p:nvSpPr>
        <p:spPr>
          <a:xfrm>
            <a:off x="502919" y="414461"/>
            <a:ext cx="8138162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Practical Recommendations</a:t>
            </a:r>
          </a:p>
        </p:txBody>
      </p:sp>
      <p:sp>
        <p:nvSpPr>
          <p:cNvPr id="193" name="Shape 1"/>
          <p:cNvSpPr/>
          <p:nvPr/>
        </p:nvSpPr>
        <p:spPr>
          <a:xfrm>
            <a:off x="457200" y="1188719"/>
            <a:ext cx="8229600" cy="731521"/>
          </a:xfrm>
          <a:prstGeom prst="rect">
            <a:avLst/>
          </a:prstGeom>
          <a:solidFill>
            <a:srgbClr val="F8F9FA"/>
          </a:solidFill>
          <a:ln w="254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"/>
          <p:cNvSpPr txBox="1"/>
          <p:nvPr/>
        </p:nvSpPr>
        <p:spPr>
          <a:xfrm>
            <a:off x="685799" y="1415482"/>
            <a:ext cx="777240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F6B6B"/>
                </a:solidFill>
              </a:defRPr>
            </a:lvl1pPr>
          </a:lstStyle>
          <a:p>
            <a:pPr/>
            <a:r>
              <a:t>LLM discrimination is a practical first-pass privacy audit tool (not a standalone guarantee)</a:t>
            </a:r>
          </a:p>
        </p:txBody>
      </p:sp>
      <p:sp>
        <p:nvSpPr>
          <p:cNvPr id="195" name="Text 3"/>
          <p:cNvSpPr txBox="1"/>
          <p:nvPr/>
        </p:nvSpPr>
        <p:spPr>
          <a:xfrm>
            <a:off x="502919" y="2008440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2E5090"/>
                </a:solidFill>
              </a:defRPr>
            </a:lvl1pPr>
          </a:lstStyle>
          <a:p>
            <a:pPr/>
            <a:r>
              <a:t>When using LLM discrimination:</a:t>
            </a:r>
          </a:p>
        </p:txBody>
      </p:sp>
      <p:sp>
        <p:nvSpPr>
          <p:cNvPr id="196" name="Text 4"/>
          <p:cNvSpPr txBox="1"/>
          <p:nvPr/>
        </p:nvSpPr>
        <p:spPr>
          <a:xfrm>
            <a:off x="777239" y="2439233"/>
            <a:ext cx="786384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Always report results per model (Gemini ≠ LLaMA)</a:t>
            </a:r>
          </a:p>
        </p:txBody>
      </p:sp>
      <p:sp>
        <p:nvSpPr>
          <p:cNvPr id="197" name="Text 5"/>
          <p:cNvSpPr txBox="1"/>
          <p:nvPr/>
        </p:nvSpPr>
        <p:spPr>
          <a:xfrm>
            <a:off x="777239" y="2850713"/>
            <a:ext cx="786384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Report per condition (C1 and C2 may differ)</a:t>
            </a:r>
          </a:p>
        </p:txBody>
      </p:sp>
      <p:sp>
        <p:nvSpPr>
          <p:cNvPr id="198" name="Text 6"/>
          <p:cNvSpPr txBox="1"/>
          <p:nvPr/>
        </p:nvSpPr>
        <p:spPr>
          <a:xfrm>
            <a:off x="777239" y="3262193"/>
            <a:ext cx="786384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Combine with formal baselines (record linkage, detection classifier, Membership Inference)</a:t>
            </a:r>
          </a:p>
        </p:txBody>
      </p:sp>
      <p:sp>
        <p:nvSpPr>
          <p:cNvPr id="199" name="Text 7"/>
          <p:cNvSpPr txBox="1"/>
          <p:nvPr/>
        </p:nvSpPr>
        <p:spPr>
          <a:xfrm>
            <a:off x="777239" y="3673673"/>
            <a:ext cx="786384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Inspect LLM reasoning for explainability</a:t>
            </a:r>
          </a:p>
        </p:txBody>
      </p:sp>
      <p:sp>
        <p:nvSpPr>
          <p:cNvPr id="200" name="Text 8"/>
          <p:cNvSpPr txBox="1"/>
          <p:nvPr/>
        </p:nvSpPr>
        <p:spPr>
          <a:xfrm>
            <a:off x="777239" y="4085153"/>
            <a:ext cx="786384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Consider data encoding effects (strings vs. integers)</a:t>
            </a:r>
          </a:p>
        </p:txBody>
      </p:sp>
      <p:sp>
        <p:nvSpPr>
          <p:cNvPr id="201" name="Text 9"/>
          <p:cNvSpPr txBox="1"/>
          <p:nvPr/>
        </p:nvSpPr>
        <p:spPr>
          <a:xfrm>
            <a:off x="777239" y="4496633"/>
            <a:ext cx="7863842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Don't rely on single metric for privacy guarantee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6826843" y="4742193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 txBox="1"/>
          <p:nvPr/>
        </p:nvSpPr>
        <p:spPr>
          <a:xfrm>
            <a:off x="502919" y="414461"/>
            <a:ext cx="8138162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200">
                <a:solidFill>
                  <a:srgbClr val="2E5090"/>
                </a:solidFill>
              </a:defRPr>
            </a:lvl1pPr>
          </a:lstStyle>
          <a:p>
            <a:pPr/>
            <a:r>
              <a:t>Limitations &amp; Future Work</a:t>
            </a:r>
          </a:p>
        </p:txBody>
      </p:sp>
      <p:sp>
        <p:nvSpPr>
          <p:cNvPr id="205" name="Text 1"/>
          <p:cNvSpPr txBox="1"/>
          <p:nvPr/>
        </p:nvSpPr>
        <p:spPr>
          <a:xfrm>
            <a:off x="361836" y="1410773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/>
            </a:lvl1pPr>
          </a:lstStyle>
          <a:p>
            <a:pPr/>
            <a:r>
              <a:t>Study Constraints:</a:t>
            </a:r>
          </a:p>
        </p:txBody>
      </p:sp>
      <p:sp>
        <p:nvSpPr>
          <p:cNvPr id="206" name="Text 2"/>
          <p:cNvSpPr txBox="1"/>
          <p:nvPr/>
        </p:nvSpPr>
        <p:spPr>
          <a:xfrm>
            <a:off x="636155" y="1826508"/>
            <a:ext cx="7863842" cy="272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t>90.6% of planned trials failed due to API quotas (low per-cell N)</a:t>
            </a:r>
          </a:p>
        </p:txBody>
      </p:sp>
      <p:sp>
        <p:nvSpPr>
          <p:cNvPr id="207" name="Text 3"/>
          <p:cNvSpPr txBox="1"/>
          <p:nvPr/>
        </p:nvSpPr>
        <p:spPr>
          <a:xfrm>
            <a:off x="636155" y="2237987"/>
            <a:ext cx="7863842" cy="27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t>Only 8B and ~50B parameter models tested</a:t>
            </a:r>
          </a:p>
        </p:txBody>
      </p:sp>
      <p:sp>
        <p:nvSpPr>
          <p:cNvPr id="208" name="Text 4"/>
          <p:cNvSpPr txBox="1"/>
          <p:nvPr/>
        </p:nvSpPr>
        <p:spPr>
          <a:xfrm>
            <a:off x="636155" y="2649468"/>
            <a:ext cx="7863842" cy="272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1A1A1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t>Zero-shot prompting only (chain-of-thought unexplored)</a:t>
            </a:r>
          </a:p>
        </p:txBody>
      </p:sp>
      <p:sp>
        <p:nvSpPr>
          <p:cNvPr id="209" name="Text 5"/>
          <p:cNvSpPr txBox="1"/>
          <p:nvPr/>
        </p:nvSpPr>
        <p:spPr>
          <a:xfrm>
            <a:off x="636155" y="3072941"/>
            <a:ext cx="786384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Limited to 3 synthesis methods and 2 datasets</a:t>
            </a:r>
          </a:p>
        </p:txBody>
      </p:sp>
      <p:sp>
        <p:nvSpPr>
          <p:cNvPr id="210" name="Text 6"/>
          <p:cNvSpPr txBox="1"/>
          <p:nvPr/>
        </p:nvSpPr>
        <p:spPr>
          <a:xfrm>
            <a:off x="636155" y="3484421"/>
            <a:ext cx="78638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Diffusion &amp; LLM-based generators not tested</a:t>
            </a:r>
          </a:p>
        </p:txBody>
      </p:sp>
      <p:sp>
        <p:nvSpPr>
          <p:cNvPr id="211" name="Text 7"/>
          <p:cNvSpPr txBox="1"/>
          <p:nvPr/>
        </p:nvSpPr>
        <p:spPr>
          <a:xfrm>
            <a:off x="5070511" y="1448293"/>
            <a:ext cx="8138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/>
            </a:lvl1pPr>
          </a:lstStyle>
          <a:p>
            <a:pPr/>
            <a:r>
              <a:t>Future Work:</a:t>
            </a:r>
          </a:p>
        </p:txBody>
      </p:sp>
      <p:sp>
        <p:nvSpPr>
          <p:cNvPr id="212" name="Text 8"/>
          <p:cNvSpPr txBox="1"/>
          <p:nvPr/>
        </p:nvSpPr>
        <p:spPr>
          <a:xfrm>
            <a:off x="5344830" y="1818739"/>
            <a:ext cx="78638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→ Stable local deployments to avoid API sparsity</a:t>
            </a:r>
          </a:p>
        </p:txBody>
      </p:sp>
      <p:sp>
        <p:nvSpPr>
          <p:cNvPr id="213" name="Text 9"/>
          <p:cNvSpPr txBox="1"/>
          <p:nvPr/>
        </p:nvSpPr>
        <p:spPr>
          <a:xfrm>
            <a:off x="5344830" y="2138778"/>
            <a:ext cx="78638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→ Broader synthesis methods (diffusion, LLM-based generators)</a:t>
            </a:r>
          </a:p>
        </p:txBody>
      </p:sp>
      <p:sp>
        <p:nvSpPr>
          <p:cNvPr id="214" name="Text 10"/>
          <p:cNvSpPr txBox="1"/>
          <p:nvPr/>
        </p:nvSpPr>
        <p:spPr>
          <a:xfrm>
            <a:off x="5344830" y="2458819"/>
            <a:ext cx="78638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→ Larger human annotation studies</a:t>
            </a:r>
          </a:p>
        </p:txBody>
      </p:sp>
      <p:sp>
        <p:nvSpPr>
          <p:cNvPr id="215" name="Text 11"/>
          <p:cNvSpPr txBox="1"/>
          <p:nvPr/>
        </p:nvSpPr>
        <p:spPr>
          <a:xfrm>
            <a:off x="5344830" y="2778858"/>
            <a:ext cx="78638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→ Joint privacy-utility reporting</a:t>
            </a:r>
          </a:p>
        </p:txBody>
      </p:sp>
      <p:sp>
        <p:nvSpPr>
          <p:cNvPr id="216" name="Slide Number"/>
          <p:cNvSpPr txBox="1"/>
          <p:nvPr>
            <p:ph type="sldNum" sz="quarter" idx="2"/>
          </p:nvPr>
        </p:nvSpPr>
        <p:spPr>
          <a:xfrm>
            <a:off x="6826843" y="4801614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E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457200" y="1097279"/>
            <a:ext cx="8229600" cy="2560322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"/>
          <p:cNvSpPr txBox="1"/>
          <p:nvPr/>
        </p:nvSpPr>
        <p:spPr>
          <a:xfrm>
            <a:off x="685799" y="1226820"/>
            <a:ext cx="777240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2200">
                <a:solidFill>
                  <a:srgbClr val="FF6B6B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💡 </a:t>
            </a:r>
            <a:r>
              <a:t>The key insight</a:t>
            </a:r>
          </a:p>
        </p:txBody>
      </p:sp>
      <p:sp>
        <p:nvSpPr>
          <p:cNvPr id="220" name="Text 2"/>
          <p:cNvSpPr txBox="1"/>
          <p:nvPr/>
        </p:nvSpPr>
        <p:spPr>
          <a:xfrm>
            <a:off x="685799" y="1893440"/>
            <a:ext cx="7772402" cy="876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2E5090"/>
                </a:solidFill>
              </a:defRPr>
            </a:lvl1pPr>
          </a:lstStyle>
          <a:p>
            <a:pPr/>
            <a:r>
              <a:t>Model choice matters as much as synthesis method choice</a:t>
            </a:r>
          </a:p>
        </p:txBody>
      </p:sp>
      <p:sp>
        <p:nvSpPr>
          <p:cNvPr id="221" name="Text 3"/>
          <p:cNvSpPr txBox="1"/>
          <p:nvPr/>
        </p:nvSpPr>
        <p:spPr>
          <a:xfrm>
            <a:off x="502919" y="4021521"/>
            <a:ext cx="81381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F8F9FA"/>
                </a:solidFill>
              </a:defRPr>
            </a:lvl1pPr>
          </a:lstStyle>
          <a:p>
            <a:pPr/>
            <a:r>
              <a:t>When evaluating synthetic data privacy, always ask: Which LLM discriminator was used?</a:t>
            </a: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>
            <a:off x="6897385" y="4795099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 txBox="1"/>
          <p:nvPr/>
        </p:nvSpPr>
        <p:spPr>
          <a:xfrm>
            <a:off x="502919" y="1658580"/>
            <a:ext cx="8138162" cy="7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800">
                <a:solidFill>
                  <a:srgbClr val="2E5090"/>
                </a:solidFill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225" name="Text 1"/>
          <p:cNvSpPr txBox="1"/>
          <p:nvPr/>
        </p:nvSpPr>
        <p:spPr>
          <a:xfrm>
            <a:off x="502919" y="2648520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Code &amp; results:</a:t>
            </a:r>
          </a:p>
        </p:txBody>
      </p:sp>
      <p:sp>
        <p:nvSpPr>
          <p:cNvPr id="226" name="Text 2"/>
          <p:cNvSpPr txBox="1"/>
          <p:nvPr/>
        </p:nvSpPr>
        <p:spPr>
          <a:xfrm>
            <a:off x="502919" y="305010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2E5090"/>
                </a:solidFill>
              </a:defRPr>
            </a:lvl1pPr>
          </a:lstStyle>
          <a:p>
            <a:pPr/>
            <a:r>
              <a:t>github.com/SlokomManel/LLM-as-a-Discriminator</a:t>
            </a:r>
          </a:p>
        </p:txBody>
      </p:sp>
      <p:sp>
        <p:nvSpPr>
          <p:cNvPr id="227" name="Text 3"/>
          <p:cNvSpPr txBox="1"/>
          <p:nvPr/>
        </p:nvSpPr>
        <p:spPr>
          <a:xfrm>
            <a:off x="502919" y="3579167"/>
            <a:ext cx="81381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1A1A1A"/>
                </a:solidFill>
              </a:defRPr>
            </a:lvl1pPr>
          </a:lstStyle>
          <a:p>
            <a:pPr/>
            <a:r>
              <a:t>Paper available on arXiv</a:t>
            </a:r>
          </a:p>
        </p:txBody>
      </p:sp>
      <p:sp>
        <p:nvSpPr>
          <p:cNvPr id="2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